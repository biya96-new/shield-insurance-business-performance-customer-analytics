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4" r:id="rId7"/>
    <p:sldId id="260" r:id="rId6"/>
    <p:sldId id="261" r:id="rId8"/>
    <p:sldId id="262" r:id="rId9"/>
    <p:sldId id="263" r:id="rId10"/>
    <p:sldId id="275" r:id="rId11"/>
    <p:sldId id="264" r:id="rId12"/>
    <p:sldId id="265" r:id="rId13"/>
    <p:sldId id="276" r:id="rId14"/>
    <p:sldId id="266" r:id="rId15"/>
    <p:sldId id="267" r:id="rId16"/>
    <p:sldId id="268" r:id="rId17"/>
    <p:sldId id="269" r:id="rId18"/>
    <p:sldId id="277" r:id="rId27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D799F2-31F2-4723-A203-CD5588DAD697}" v="348" dt="2026-09-30T06:21:47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Relationship Id="rId2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26674-AB0F-4BB9-BAF7-FEF11E5AA225}" type="datetimeFigureOut">
              <a:t>29/09/2026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DB1B00-FD57-41C7-9B5F-41DFE8E0E2B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60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D5D5F-46ED-6418-EB6E-4F1170631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8BEBA-70C6-BF9E-CFF3-9D416D34D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8794B-68B8-A686-8A86-F05D5FEBA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1CBC3-25D5-A468-2538-2D8256692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12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21AC-C3E1-0C3D-1070-4A2D0618D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19275-6DED-6115-DEE3-A1168798D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011F5-E573-EFBF-5080-F80C913D2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B57E9-B716-8047-6265-EC67E6EF6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20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EF11-CCB8-7D99-FB09-50F95FC0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12555-4BF4-5104-C3CF-047CCA86A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1FB52-6E8F-F1B0-9EBD-A0FC533A2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0B235-ADC7-2F0E-6ADA-B7A8C04EC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67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60120"/>
            <a:ext cx="685800" cy="685800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1430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9202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 Insurance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834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B9A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&amp; Customer Analytics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383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customers, sales behaviour and insurance needs through data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453896"/>
            <a:ext cx="384048" cy="384048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824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Shield is, where it operates, its scale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322576"/>
            <a:ext cx="384048" cy="384048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258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51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purchase insurance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3191256"/>
            <a:ext cx="384048" cy="384048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4008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4198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March surge in customers and revenue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" y="4059936"/>
            <a:ext cx="384048" cy="384048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995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288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group and city driving the business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2801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46320" y="1453896"/>
            <a:ext cx="384048" cy="384048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84632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Mode Behaviour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16824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choice by city and by day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1488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46320" y="2322576"/>
            <a:ext cx="384048" cy="384048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484632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2258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Analysis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394960" y="2551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exposure, channels and life stages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0175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846320" y="3191256"/>
            <a:ext cx="384048" cy="384048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484632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39496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394960" y="34198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38862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846320" y="4059936"/>
            <a:ext cx="384048" cy="384048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484632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394960" y="3995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394960" y="4288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 Insurance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 sells across five Indian cities through offline and online channels, generating </a:t>
            </a:r>
            <a:r>
              <a:rPr lang="en-US" sz="1600" dirty="0" b="1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₹989.25M</a:t>
            </a:r>
            <a:r>
              <a:rPr lang="en-US" sz="160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</a:t>
            </a:r>
            <a:r>
              <a:rPr lang="en-US" sz="1600" dirty="0" b="1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26.84K</a:t>
            </a:r>
            <a:r>
              <a:rPr lang="en-US" sz="160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customers.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45720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9A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explores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1558138" cy="1737360"/>
          </a:xfrm>
          <a:prstGeom prst="roundRect">
            <a:avLst>
              <a:gd name="adj" fmla="val 909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66928" y="269748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customers?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25066" y="2697480"/>
            <a:ext cx="1558138" cy="1737360"/>
          </a:xfrm>
          <a:prstGeom prst="roundRect">
            <a:avLst>
              <a:gd name="adj" fmla="val 909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2234794" y="269748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revenue come from?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92931" y="2697480"/>
            <a:ext cx="1558138" cy="1737360"/>
          </a:xfrm>
          <a:prstGeom prst="roundRect">
            <a:avLst>
              <a:gd name="adj" fmla="val 909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3902659" y="269748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they buy?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60797" y="2697480"/>
            <a:ext cx="1558138" cy="1737360"/>
          </a:xfrm>
          <a:prstGeom prst="roundRect">
            <a:avLst>
              <a:gd name="adj" fmla="val 909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570525" y="269748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are they most active?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28662" y="2697480"/>
            <a:ext cx="1558138" cy="1737360"/>
          </a:xfrm>
          <a:prstGeom prst="roundRect">
            <a:avLst>
              <a:gd name="adj" fmla="val 909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238390" y="269748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coverage do they choose?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Shield’s Business Footprint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cities across India. </a:t>
            </a:r>
            <a:r>
              <a:rPr lang="en-US" sz="1600" dirty="0" b="1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</a:t>
            </a:r>
            <a:r>
              <a:rPr lang="en-US" sz="160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largest market, followed by </a:t>
            </a:r>
            <a:r>
              <a:rPr lang="en-US" sz="1600" dirty="0" b="1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r>
              <a:rPr lang="en-US" sz="160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499616" cy="2103120"/>
          </a:xfrm>
          <a:prstGeom prst="roundRect">
            <a:avLst>
              <a:gd name="adj" fmla="val 6098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57200" y="32004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6FA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39696" y="2103120"/>
            <a:ext cx="1499616" cy="2103120"/>
          </a:xfrm>
          <a:prstGeom prst="roundRect">
            <a:avLst>
              <a:gd name="adj" fmla="val 6098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2139696" y="32004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6FA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822191" y="2103120"/>
            <a:ext cx="1499616" cy="2103120"/>
          </a:xfrm>
          <a:prstGeom prst="roundRect">
            <a:avLst>
              <a:gd name="adj" fmla="val 6098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3822191" y="32004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6FA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504688" y="2103120"/>
            <a:ext cx="1499616" cy="2103120"/>
          </a:xfrm>
          <a:prstGeom prst="roundRect">
            <a:avLst>
              <a:gd name="adj" fmla="val 6098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 txBox="1"/>
          <p:nvPr/>
        </p:nvSpPr>
        <p:spPr>
          <a:xfrm>
            <a:off x="5504688" y="32004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6FA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Indore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187184" y="2103120"/>
            <a:ext cx="1499616" cy="2103120"/>
          </a:xfrm>
          <a:prstGeom prst="roundRect">
            <a:avLst>
              <a:gd name="adj" fmla="val 6098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 txBox="1"/>
          <p:nvPr/>
        </p:nvSpPr>
        <p:spPr>
          <a:xfrm>
            <a:off x="7187184" y="32004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6FA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600" dirty="0"/>
          </a:p>
        </p:txBody>
      </p:sp>
      <p:sp>
        <p:nvSpPr>
          <p:cNvPr id="27" name="Oval 26"/>
          <p:cNvSpPr/>
          <p:nvPr/>
        </p:nvSpPr>
        <p:spPr>
          <a:xfrm>
            <a:off x="886968" y="2377440"/>
            <a:ext cx="640080" cy="640080"/>
          </a:xfrm>
          <a:prstGeom prst="ellipse">
            <a:avLst/>
          </a:prstGeom>
          <a:solidFill>
            <a:srgbClr val="9172CF"/>
          </a:solidFill>
          <a:ln>
            <a:solidFill>
              <a:srgbClr val="917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141C"/>
                </a:solidFill>
                <a:latin typeface="Cambria"/>
              </a:rPr>
              <a:t>C</a:t>
            </a:r>
          </a:p>
        </p:txBody>
      </p:sp>
      <p:sp>
        <p:nvSpPr>
          <p:cNvPr id="28" name="Oval 27"/>
          <p:cNvSpPr/>
          <p:nvPr/>
        </p:nvSpPr>
        <p:spPr>
          <a:xfrm>
            <a:off x="2569463" y="2377440"/>
            <a:ext cx="640080" cy="640080"/>
          </a:xfrm>
          <a:prstGeom prst="ellipse">
            <a:avLst/>
          </a:prstGeom>
          <a:solidFill>
            <a:srgbClr val="3DB8FF"/>
          </a:solidFill>
          <a:ln>
            <a:solidFill>
              <a:srgbClr val="3D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141C"/>
                </a:solidFill>
                <a:latin typeface="Cambria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251959" y="2377440"/>
            <a:ext cx="640080" cy="640080"/>
          </a:xfrm>
          <a:prstGeom prst="ellipse">
            <a:avLst/>
          </a:prstGeom>
          <a:solidFill>
            <a:srgbClr val="B9A6E6"/>
          </a:solidFill>
          <a:ln>
            <a:solidFill>
              <a:srgbClr val="B9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141C"/>
                </a:solidFill>
                <a:latin typeface="Cambria"/>
              </a:rPr>
              <a:t>H</a:t>
            </a:r>
          </a:p>
        </p:txBody>
      </p:sp>
      <p:sp>
        <p:nvSpPr>
          <p:cNvPr id="30" name="Oval 29"/>
          <p:cNvSpPr/>
          <p:nvPr/>
        </p:nvSpPr>
        <p:spPr>
          <a:xfrm>
            <a:off x="5934455" y="2377440"/>
            <a:ext cx="640080" cy="640080"/>
          </a:xfrm>
          <a:prstGeom prst="ellipse">
            <a:avLst/>
          </a:prstGeom>
          <a:solidFill>
            <a:srgbClr val="9AA0A6"/>
          </a:solidFill>
          <a:ln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141C"/>
                </a:solidFill>
                <a:latin typeface="Cambria"/>
              </a:rPr>
              <a:t>I</a:t>
            </a:r>
          </a:p>
        </p:txBody>
      </p:sp>
      <p:sp>
        <p:nvSpPr>
          <p:cNvPr id="31" name="Oval 30"/>
          <p:cNvSpPr/>
          <p:nvPr/>
        </p:nvSpPr>
        <p:spPr>
          <a:xfrm>
            <a:off x="7616952" y="2377440"/>
            <a:ext cx="640080" cy="640080"/>
          </a:xfrm>
          <a:prstGeom prst="ellipse">
            <a:avLst/>
          </a:prstGeom>
          <a:solidFill>
            <a:srgbClr val="9172CF"/>
          </a:solidFill>
          <a:ln>
            <a:solidFill>
              <a:srgbClr val="917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141C"/>
                </a:solidFill>
                <a:latin typeface="Cambria"/>
              </a:rPr>
              <a:t>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1ECBC-8523-BEF3-B1CC-E7359177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7C8193-B0A0-6CC6-F38A-7D20A6BA529E}"/>
              </a:ext>
            </a:extLst>
          </p:cNvPr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CONTEXT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EC0410-1750-8B64-8D6B-EAA426A086B6}"/>
              </a:ext>
            </a:extLst>
          </p:cNvPr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00" b="1" dirty="0">
                <a:solidFill>
                  <a:srgbClr val="F4F6FA"/>
                </a:solidFill>
                <a:latin typeface="Cambria"/>
                <a:ea typeface="Cambria"/>
              </a:rPr>
              <a:t>Key Metrics</a:t>
            </a:r>
            <a:endParaRPr lang="en-US" dirty="0" err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210BD3-3861-CFE7-250B-55E3B4234749}"/>
              </a:ext>
            </a:extLst>
          </p:cNvPr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954530" cy="1325880"/>
          </a:xfrm>
          <a:prstGeom prst="roundRect">
            <a:avLst>
              <a:gd name="adj" fmla="val 8000"/>
            </a:avLst>
          </a:prstGeom>
          <a:solidFill>
            <a:srgbClr val="221C3B"/>
          </a:solidFill>
          <a:ln w="9525">
            <a:solidFill>
              <a:srgbClr val="917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500"/>
              </a:spcAft>
            </a:pPr>
            <a:r>
              <a:rPr sz="2600" b="0">
                <a:solidFill>
                  <a:srgbClr val="B9A6E6"/>
                </a:solidFill>
                <a:latin typeface="Cambria"/>
              </a:rPr>
              <a:t>₹989.25M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A9B4C6"/>
                </a:solidFill>
                <a:latin typeface="Calibri"/>
              </a:rPr>
              <a:t>Total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8890" y="1325880"/>
            <a:ext cx="1954530" cy="1325880"/>
          </a:xfrm>
          <a:prstGeom prst="roundRect">
            <a:avLst>
              <a:gd name="adj" fmla="val 8000"/>
            </a:avLst>
          </a:prstGeom>
          <a:solidFill>
            <a:srgbClr val="18202B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1770" y="146304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500"/>
              </a:spcAft>
            </a:pPr>
            <a:r>
              <a:rPr sz="2600" b="0">
                <a:solidFill>
                  <a:srgbClr val="3DB8FF"/>
                </a:solidFill>
                <a:latin typeface="Cambria"/>
              </a:rPr>
              <a:t>26.84K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1770" y="219456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A9B4C6"/>
                </a:solidFill>
                <a:latin typeface="Calibri"/>
              </a:rPr>
              <a:t>Total 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0580" y="1325880"/>
            <a:ext cx="1954530" cy="1325880"/>
          </a:xfrm>
          <a:prstGeom prst="roundRect">
            <a:avLst>
              <a:gd name="adj" fmla="val 8000"/>
            </a:avLst>
          </a:prstGeom>
          <a:solidFill>
            <a:srgbClr val="18202B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3460" y="146304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500"/>
              </a:spcAft>
            </a:pPr>
            <a:r>
              <a:rPr sz="2600" b="0">
                <a:solidFill>
                  <a:srgbClr val="B9A6E6"/>
                </a:solidFill>
                <a:latin typeface="Cambria"/>
              </a:rPr>
              <a:t>₹5.47M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3460" y="219456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A9B4C6"/>
                </a:solidFill>
                <a:latin typeface="Calibri"/>
              </a:rPr>
              <a:t>Average daily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32270" y="1325880"/>
            <a:ext cx="1954530" cy="1325880"/>
          </a:xfrm>
          <a:prstGeom prst="roundRect">
            <a:avLst>
              <a:gd name="adj" fmla="val 8000"/>
            </a:avLst>
          </a:prstGeom>
          <a:solidFill>
            <a:srgbClr val="18202B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5150" y="146304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500"/>
              </a:spcAft>
            </a:pPr>
            <a:r>
              <a:rPr sz="2600" b="0">
                <a:solidFill>
                  <a:srgbClr val="3DB8FF"/>
                </a:solidFill>
                <a:latin typeface="Cambria"/>
              </a:rPr>
              <a:t>148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219456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A9B4C6"/>
                </a:solidFill>
                <a:latin typeface="Calibri"/>
              </a:rPr>
              <a:t>Average customers a 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80360"/>
            <a:ext cx="5120640" cy="1828800"/>
          </a:xfrm>
          <a:prstGeom prst="roundRect">
            <a:avLst>
              <a:gd name="adj" fmla="val 8000"/>
            </a:avLst>
          </a:prstGeom>
          <a:solidFill>
            <a:srgbClr val="18202B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0" y="2880360"/>
            <a:ext cx="2926080" cy="1828800"/>
          </a:xfrm>
          <a:prstGeom prst="roundRect">
            <a:avLst>
              <a:gd name="adj" fmla="val 8000"/>
            </a:avLst>
          </a:prstGeom>
          <a:solidFill>
            <a:srgbClr val="221C3B"/>
          </a:solidFill>
          <a:ln w="9525">
            <a:solidFill>
              <a:srgbClr val="917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90088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B9A6E6"/>
                </a:solidFill>
                <a:latin typeface="Calibri"/>
              </a:rPr>
              <a:t>What the numbers say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300" b="1">
                <a:solidFill>
                  <a:srgbClr val="F4F6FA"/>
                </a:solidFill>
                <a:latin typeface="Calibri"/>
              </a:rPr>
              <a:t>Scale:</a:t>
            </a:r>
            <a:r>
              <a:rPr sz="1300" b="0">
                <a:solidFill>
                  <a:srgbClr val="F4F6FA"/>
                </a:solidFill>
                <a:latin typeface="Calibri"/>
              </a:rPr>
              <a:t> ₹989.25M from 26.84K customers over six months, Nov 2022 to Apr 2023.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300" b="1">
                <a:solidFill>
                  <a:srgbClr val="F4F6FA"/>
                </a:solidFill>
                <a:latin typeface="Calibri"/>
              </a:rPr>
              <a:t>Customer value:</a:t>
            </a:r>
            <a:r>
              <a:rPr sz="1300" b="0">
                <a:solidFill>
                  <a:srgbClr val="F4F6FA"/>
                </a:solidFill>
                <a:latin typeface="Calibri"/>
              </a:rPr>
              <a:t> each customer brings in about </a:t>
            </a:r>
            <a:r>
              <a:rPr sz="1300" b="1">
                <a:solidFill>
                  <a:srgbClr val="F4F6FA"/>
                </a:solidFill>
                <a:latin typeface="Calibri"/>
              </a:rPr>
              <a:t>₹37K</a:t>
            </a:r>
            <a:r>
              <a:rPr sz="1300" b="0">
                <a:solidFill>
                  <a:srgbClr val="F4F6FA"/>
                </a:solidFill>
                <a:latin typeface="Calibri"/>
              </a:rPr>
              <a:t> on average.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300" b="1">
                <a:solidFill>
                  <a:srgbClr val="F4F6FA"/>
                </a:solidFill>
                <a:latin typeface="Calibri"/>
              </a:rPr>
              <a:t>Daily run rate:</a:t>
            </a:r>
            <a:r>
              <a:rPr sz="1300" b="0">
                <a:solidFill>
                  <a:srgbClr val="F4F6FA"/>
                </a:solidFill>
                <a:latin typeface="Calibri"/>
              </a:rPr>
              <a:t> about 148 customers and ₹5.47M every 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990088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B9A6E6"/>
                </a:solidFill>
                <a:latin typeface="Calibri"/>
              </a:rPr>
              <a:t>Why it matters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F4F6FA"/>
                </a:solidFill>
                <a:latin typeface="Calibri"/>
              </a:rPr>
              <a:t>Every trend that follows, from the March surge to channel and age patterns, is read against this baseline.</a:t>
            </a:r>
          </a:p>
        </p:txBody>
      </p:sp>
    </p:spTree>
    <p:extLst>
      <p:ext uri="{BB962C8B-B14F-4D97-AF65-F5344CB8AC3E}">
        <p14:creationId xmlns:p14="http://schemas.microsoft.com/office/powerpoint/2010/main" val="4219076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SALES CHANNELS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Customers Buy Insurance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61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681728" y="1261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883664" cy="3063240"/>
          </a:xfrm>
          <a:prstGeom prst="roundRect">
            <a:avLst>
              <a:gd name="adj" fmla="val 4854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1828800"/>
            <a:ext cx="566928" cy="566928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8424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58368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Offline-Agent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0175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guidance from an insurance agent.</a:t>
            </a:r>
          </a:p>
          <a:p>
            <a:pPr marL="0" indent="0">
              <a:buNone/>
            </a:pPr>
            <a:r>
              <a:rPr lang="en-US" sz="1350" dirty="0" b="1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55.41%</a:t>
            </a:r>
            <a:r>
              <a:rPr lang="en-US" sz="135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customers</a:t>
            </a:r>
          </a:p>
        </p:txBody>
      </p:sp>
      <p:sp>
        <p:nvSpPr>
          <p:cNvPr id="13" name="Shape 10"/>
          <p:cNvSpPr/>
          <p:nvPr/>
        </p:nvSpPr>
        <p:spPr>
          <a:xfrm>
            <a:off x="2569464" y="1600200"/>
            <a:ext cx="1883664" cy="3063240"/>
          </a:xfrm>
          <a:prstGeom prst="roundRect">
            <a:avLst>
              <a:gd name="adj" fmla="val 4854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770632" y="1828800"/>
            <a:ext cx="566928" cy="566928"/>
          </a:xfrm>
          <a:prstGeom prst="ellipse">
            <a:avLst/>
          </a:prstGeom>
          <a:solidFill>
            <a:srgbClr val="3DB8FF"/>
          </a:solidFill>
          <a:ln w="12700">
            <a:solidFill>
              <a:srgbClr val="3DB8FF"/>
            </a:solidFill>
            <a:prstDash val="solid"/>
          </a:ln>
        </p:spPr>
        <p:txBody>
          <a:bodyPr/>
          <a:p/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9842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70632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Offline-Direct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2770632" y="30175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purchase at a branch or through a company representative.</a:t>
            </a:r>
          </a:p>
          <a:p>
            <a:pPr marL="0" indent="0">
              <a:buNone/>
            </a:pPr>
            <a:r>
              <a:rPr lang="en-US" sz="1350" dirty="0" b="1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15.86%</a:t>
            </a:r>
            <a:r>
              <a:rPr lang="en-US" sz="135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customers</a:t>
            </a:r>
          </a:p>
        </p:txBody>
      </p:sp>
      <p:sp>
        <p:nvSpPr>
          <p:cNvPr id="18" name="Shape 14"/>
          <p:cNvSpPr/>
          <p:nvPr/>
        </p:nvSpPr>
        <p:spPr>
          <a:xfrm>
            <a:off x="4681728" y="1600200"/>
            <a:ext cx="1883664" cy="3063240"/>
          </a:xfrm>
          <a:prstGeom prst="roundRect">
            <a:avLst>
              <a:gd name="adj" fmla="val 4854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882896" y="1828800"/>
            <a:ext cx="566928" cy="566928"/>
          </a:xfrm>
          <a:prstGeom prst="ellipse">
            <a:avLst/>
          </a:prstGeom>
          <a:solidFill>
            <a:srgbClr val="B9A6E6"/>
          </a:solidFill>
          <a:ln w="12700">
            <a:solidFill>
              <a:srgbClr val="B9A6E6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1984248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82896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Online-App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882896" y="30175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or manage policies on the mobile app.</a:t>
            </a:r>
          </a:p>
          <a:p>
            <a:pPr marL="0" indent="0">
              <a:buNone/>
            </a:pPr>
            <a:r>
              <a:rPr lang="en-US" sz="1350" dirty="0" b="1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16.03%</a:t>
            </a:r>
            <a:r>
              <a:rPr lang="en-US" sz="135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customers</a:t>
            </a:r>
          </a:p>
        </p:txBody>
      </p:sp>
      <p:sp>
        <p:nvSpPr>
          <p:cNvPr id="23" name="Shape 18"/>
          <p:cNvSpPr/>
          <p:nvPr/>
        </p:nvSpPr>
        <p:spPr>
          <a:xfrm>
            <a:off x="6793992" y="1600200"/>
            <a:ext cx="1883664" cy="3063240"/>
          </a:xfrm>
          <a:prstGeom prst="roundRect">
            <a:avLst>
              <a:gd name="adj" fmla="val 4854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6995160" y="1828800"/>
            <a:ext cx="566928" cy="566928"/>
          </a:xfrm>
          <a:prstGeom prst="ellipse">
            <a:avLst/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  <p:txBody>
          <a:bodyPr/>
          <a:p/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198424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9516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Online-Website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995160" y="30175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or manage policies on the company website.</a:t>
            </a:r>
          </a:p>
          <a:p>
            <a:pPr marL="0" indent="0">
              <a:buNone/>
            </a:pPr>
            <a:r>
              <a:rPr lang="en-US" sz="1350" dirty="0" b="1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12.70%</a:t>
            </a:r>
            <a:r>
              <a:rPr lang="en-US" sz="1350" dirty="0" b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BUSINESS PERFORMANCE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 Is the Peak Demand Month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00600" y="1234440"/>
            <a:ext cx="3886200" cy="3474720"/>
          </a:xfrm>
          <a:prstGeom prst="roundRect">
            <a:avLst>
              <a:gd name="adj" fmla="val 625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4983480" y="1417320"/>
            <a:ext cx="34728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sz="1650" b="1">
                <a:solidFill>
                  <a:srgbClr val="B9A6E6"/>
                </a:solidFill>
                <a:latin typeface="Calibri"/>
              </a:rPr>
              <a:t>Customers nearly double in March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500" b="1">
                <a:solidFill>
                  <a:srgbClr val="F4F6FA"/>
                </a:solidFill>
                <a:latin typeface="Calibri"/>
              </a:rPr>
              <a:t>~4K</a:t>
            </a:r>
            <a:r>
              <a:rPr sz="1500" b="0">
                <a:solidFill>
                  <a:srgbClr val="F4F6FA"/>
                </a:solidFill>
                <a:latin typeface="Calibri"/>
              </a:rPr>
              <a:t> a month from Nov to Feb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500" b="1">
                <a:solidFill>
                  <a:srgbClr val="4ADE80"/>
                </a:solidFill>
                <a:latin typeface="Calibri"/>
              </a:rPr>
              <a:t>7.1K in March</a:t>
            </a:r>
            <a:r>
              <a:rPr sz="1500" b="0">
                <a:solidFill>
                  <a:srgbClr val="F4F6FA"/>
                </a:solidFill>
                <a:latin typeface="Calibri"/>
              </a:rPr>
              <a:t>, up from 3.9K in February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500" b="1">
                <a:solidFill>
                  <a:srgbClr val="4ADE80"/>
                </a:solidFill>
                <a:latin typeface="Calibri"/>
              </a:rPr>
              <a:t>₹264M</a:t>
            </a:r>
            <a:r>
              <a:rPr sz="1500" b="0">
                <a:solidFill>
                  <a:srgbClr val="F4F6FA"/>
                </a:solidFill>
                <a:latin typeface="Calibri"/>
              </a:rPr>
              <a:t> revenue in March vs ₹143M in February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4F6FA"/>
                </a:solidFill>
                <a:latin typeface="Calibri"/>
              </a:rPr>
              <a:t>More customers and more revenue. But are they buying more policies?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E63AB42-6346-F679-7672-BD518A39D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53" y="1234440"/>
            <a:ext cx="3771014" cy="16459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0CCC968-C30B-1AB4-DE53-0B4E60F11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86" y="3017520"/>
            <a:ext cx="3964547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BUSINESS PERFORMANCE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617720" cy="1965960"/>
          </a:xfrm>
          <a:prstGeom prst="roundRect">
            <a:avLst>
              <a:gd name="adj" fmla="val 465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303520" y="128016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565775" y="1523480"/>
            <a:ext cx="3017520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B9A6E6"/>
                </a:solidFill>
                <a:latin typeface="Calibri"/>
              </a:rPr>
              <a:t>Policy growth: a spike, then a dip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4F6FA"/>
                </a:solidFill>
                <a:latin typeface="Calibri"/>
              </a:rPr>
              <a:t>March:</a:t>
            </a:r>
            <a:r>
              <a:rPr sz="1300" b="0">
                <a:solidFill>
                  <a:srgbClr val="F4F6FA"/>
                </a:solidFill>
                <a:latin typeface="Calibri"/>
              </a:rPr>
              <a:t> </a:t>
            </a:r>
            <a:r>
              <a:rPr sz="1300" b="1">
                <a:solidFill>
                  <a:srgbClr val="4ADE80"/>
                </a:solidFill>
                <a:latin typeface="Calibri"/>
              </a:rPr>
              <a:t>+82.27%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4F6FA"/>
                </a:solidFill>
                <a:latin typeface="Calibri"/>
              </a:rPr>
              <a:t>April:</a:t>
            </a:r>
            <a:r>
              <a:rPr sz="1300" b="0">
                <a:solidFill>
                  <a:srgbClr val="F4F6FA"/>
                </a:solidFill>
                <a:latin typeface="Calibri"/>
              </a:rPr>
              <a:t> </a:t>
            </a:r>
            <a:r>
              <a:rPr sz="1300" b="1">
                <a:solidFill>
                  <a:srgbClr val="F87171"/>
                </a:solidFill>
                <a:latin typeface="Calibri"/>
              </a:rPr>
              <a:t>−41.41%</a:t>
            </a:r>
            <a:r>
              <a:rPr sz="1300" b="0">
                <a:solidFill>
                  <a:srgbClr val="F4F6FA"/>
                </a:solidFill>
                <a:latin typeface="Calibri"/>
              </a:rPr>
              <a:t> as demand normalises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4F6FA"/>
                </a:solidFill>
                <a:latin typeface="Calibri"/>
              </a:rPr>
              <a:t>Likely driver:</a:t>
            </a:r>
            <a:r>
              <a:rPr sz="1300" b="0">
                <a:solidFill>
                  <a:srgbClr val="F4F6FA"/>
                </a:solidFill>
                <a:latin typeface="Calibri"/>
              </a:rPr>
              <a:t> year-end tax and financial decisions plus stronger sales pushes. The data does not confirm the cause.</a:t>
            </a:r>
          </a:p>
        </p:txBody>
      </p:sp>
      <p:sp>
        <p:nvSpPr>
          <p:cNvPr id="11" name="Shape 8"/>
          <p:cNvSpPr/>
          <p:nvPr/>
        </p:nvSpPr>
        <p:spPr>
          <a:xfrm>
            <a:off x="457200" y="3429000"/>
            <a:ext cx="4617720" cy="1280160"/>
          </a:xfrm>
          <a:prstGeom prst="roundRect">
            <a:avLst>
              <a:gd name="adj" fmla="val 7143"/>
            </a:avLst>
          </a:prstGeom>
          <a:solidFill>
            <a:srgbClr val="221C3B"/>
          </a:solidFill>
          <a:ln w="9525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85800" y="35204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 is a seasonal rise in customer volume, not a lasting rise in customer value.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03520" y="34290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0" y="3655556"/>
            <a:ext cx="30175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 b="0">
                <a:solidFill>
                  <a:srgbClr val="A9B4C6"/>
                </a:solidFill>
                <a:ea typeface="+mn-lt"/>
                <a:cs typeface="+mn-lt"/>
              </a:rPr>
              <a:t>Growth only matters if we know who drives it. Next: which customers contribute most?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23E3666-3EFA-F6E4-24AF-8606CE2C6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87" y="1370012"/>
            <a:ext cx="4535487" cy="1800225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Growth Spikes, Then Normalises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CUSTOMER PROFILE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31–50 Age Group Anchors the Business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282700"/>
            <a:ext cx="4754880" cy="3434397"/>
          </a:xfrm>
          <a:prstGeom prst="roundRect">
            <a:avLst>
              <a:gd name="adj" fmla="val 465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76580" y="2761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SzPct val="100000"/>
              <a:buFont typeface="Arial"/>
              <a:buNone/>
            </a:pPr>
            <a:r>
              <a:rPr lang="en-US" sz="1200" dirty="0" b="0">
                <a:solidFill>
                  <a:srgbClr val="F4F6FA"/>
                </a:solidFill>
                <a:ea typeface="+mn-lt"/>
                <a:cs typeface="+mn-lt"/>
              </a:rPr>
              <a:t>Next: how do these customers buy?</a:t>
            </a:r>
          </a:p>
        </p:txBody>
      </p:sp>
      <p:sp>
        <p:nvSpPr>
          <p:cNvPr id="15" name="Shape 13"/>
          <p:cNvSpPr/>
          <p:nvPr/>
        </p:nvSpPr>
        <p:spPr>
          <a:xfrm>
            <a:off x="5394960" y="1280160"/>
            <a:ext cx="3291840" cy="3429000"/>
          </a:xfrm>
          <a:prstGeom prst="roundRect">
            <a:avLst>
              <a:gd name="adj" fmla="val 2778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pic>
        <p:nvPicPr>
          <p:cNvPr id="16" name="Image 0" descr="/home/claude/work/w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355" y="1353312"/>
            <a:ext cx="2959050" cy="32826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18857A1-83AC-E419-953F-A8E1D0E1C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93372"/>
            <a:ext cx="4480560" cy="1277095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1417320"/>
          <a:ext cx="4297680" cy="1316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05840"/>
                <a:gridCol w="329184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41C"/>
                          </a:solidFill>
                          <a:latin typeface="Calibri"/>
                        </a:rPr>
                        <a:t>Age group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41C"/>
                          </a:solidFill>
                          <a:latin typeface="Calibri"/>
                        </a:rPr>
                        <a:t>Role in the business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31–50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About 62% of customers; the core revenue base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65+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Smaller base; highest-value cover (₹1Cr)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18–24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Smallest segment; lowest cover (₹2L)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DF369-DCE0-FF1A-7740-A00DF14E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FEAD15-E565-423C-4914-AE4D0DEBA4A5}"/>
              </a:ext>
            </a:extLst>
          </p:cNvPr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CUSTOMER PROFILE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6D561C-6B09-9D9F-1FAD-CC9B35810400}"/>
              </a:ext>
            </a:extLst>
          </p:cNvPr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dirty="0" b="1">
                <a:solidFill>
                  <a:srgbClr val="F4F6FA"/>
                </a:solidFill>
                <a:latin typeface="Cambria"/>
                <a:ea typeface="+mn-lt"/>
                <a:cs typeface="+mn-lt"/>
              </a:rPr>
              <a:t>Delhi Leads Across Every Age Group</a:t>
            </a: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59F37B-E706-F49B-2755-7075892B2B59}"/>
              </a:ext>
            </a:extLst>
          </p:cNvPr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33791B-F881-6C2A-7324-97FF06469363}"/>
              </a:ext>
            </a:extLst>
          </p:cNvPr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346502-E977-FB6A-FBD5-A4F2B056BF55}"/>
              </a:ext>
            </a:extLst>
          </p:cNvPr>
          <p:cNvSpPr/>
          <p:nvPr/>
        </p:nvSpPr>
        <p:spPr>
          <a:xfrm>
            <a:off x="457200" y="1282700"/>
            <a:ext cx="4754880" cy="2194560"/>
          </a:xfrm>
          <a:prstGeom prst="roundRect">
            <a:avLst>
              <a:gd name="adj" fmla="val 465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EE066F9-4137-9C49-483F-3B0E31439E5E}"/>
              </a:ext>
            </a:extLst>
          </p:cNvPr>
          <p:cNvSpPr/>
          <p:nvPr/>
        </p:nvSpPr>
        <p:spPr>
          <a:xfrm>
            <a:off x="5394960" y="1280160"/>
            <a:ext cx="3291840" cy="3429000"/>
          </a:xfrm>
          <a:prstGeom prst="roundRect">
            <a:avLst>
              <a:gd name="adj" fmla="val 2778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pic>
        <p:nvPicPr>
          <p:cNvPr id="16" name="Image 0" descr="/home/claude/work/who.png">
            <a:extLst>
              <a:ext uri="{FF2B5EF4-FFF2-40B4-BE49-F238E27FC236}">
                <a16:creationId xmlns:a16="http://schemas.microsoft.com/office/drawing/2014/main" id="{78CCF7BC-8BF4-D18D-D570-465EA79D0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355" y="1353312"/>
            <a:ext cx="2959050" cy="3282696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1417320"/>
          <a:ext cx="4297680" cy="1316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256032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41C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41C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Delhi NCR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Leads every age group (₹118M in 31–40)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Mumbai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Second in every age group (₹67M in 31–40)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Others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Hyderabad ₹46M, Chennai ₹30M, Indore ₹24M (31–40)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57200" y="3657600"/>
            <a:ext cx="4754880" cy="1051560"/>
          </a:xfrm>
          <a:prstGeom prst="roundRect">
            <a:avLst>
              <a:gd name="adj" fmla="val 10000"/>
            </a:avLst>
          </a:prstGeom>
          <a:solidFill>
            <a:srgbClr val="221C3B"/>
          </a:solidFill>
          <a:ln w="9525">
            <a:solidFill>
              <a:srgbClr val="917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4389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F4F6FA"/>
                </a:solidFill>
                <a:latin typeface="Cambria"/>
              </a:rPr>
              <a:t>Delhi and Mumbai carry the 31–50 base. Next: how do these customers prefer to buy?</a:t>
            </a:r>
          </a:p>
        </p:txBody>
      </p:sp>
    </p:spTree>
    <p:extLst>
      <p:ext uri="{BB962C8B-B14F-4D97-AF65-F5344CB8AC3E}">
        <p14:creationId xmlns:p14="http://schemas.microsoft.com/office/powerpoint/2010/main" val="354993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SALES MODE BEHAVIOUR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dirty="0" b="1">
                <a:solidFill>
                  <a:srgbClr val="F4F6FA"/>
                </a:solidFill>
                <a:latin typeface="Cambria"/>
                <a:ea typeface="+mn-lt"/>
                <a:cs typeface="+mn-lt"/>
              </a:rPr>
              <a:t>Revenue Trend by Sales Mode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2514600"/>
          </a:xfrm>
          <a:prstGeom prst="roundRect">
            <a:avLst>
              <a:gd name="adj" fmla="val 4348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760720" y="1289304"/>
            <a:ext cx="2926080" cy="3419856"/>
          </a:xfrm>
          <a:prstGeom prst="roundRect">
            <a:avLst>
              <a:gd name="adj" fmla="val 80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5897880" y="141732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B9A6E6"/>
                </a:solidFill>
                <a:latin typeface="Calibri"/>
              </a:rPr>
              <a:t>Agents lead revenue every month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450" b="1">
                <a:solidFill>
                  <a:srgbClr val="4ADE80"/>
                </a:solidFill>
                <a:latin typeface="Calibri"/>
              </a:rPr>
              <a:t>₹134M</a:t>
            </a:r>
            <a:r>
              <a:rPr sz="1450" b="0">
                <a:solidFill>
                  <a:srgbClr val="F4F6FA"/>
                </a:solidFill>
                <a:latin typeface="Calibri"/>
              </a:rPr>
              <a:t> in March, up from ₹78M in February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450" b="0">
                <a:solidFill>
                  <a:srgbClr val="F4F6FA"/>
                </a:solidFill>
                <a:latin typeface="Calibri"/>
              </a:rPr>
              <a:t>More than </a:t>
            </a:r>
            <a:r>
              <a:rPr sz="1450" b="1">
                <a:solidFill>
                  <a:srgbClr val="F4F6FA"/>
                </a:solidFill>
                <a:latin typeface="Calibri"/>
              </a:rPr>
              <a:t>2×</a:t>
            </a:r>
            <a:r>
              <a:rPr sz="1450" b="0">
                <a:solidFill>
                  <a:srgbClr val="F4F6FA"/>
                </a:solidFill>
                <a:latin typeface="Calibri"/>
              </a:rPr>
              <a:t> any other channel in March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450" b="0">
                <a:solidFill>
                  <a:srgbClr val="F4F6FA"/>
                </a:solidFill>
                <a:latin typeface="Calibri"/>
              </a:rPr>
              <a:t>Every channel peaks in March, then </a:t>
            </a:r>
            <a:r>
              <a:rPr sz="1450" b="1">
                <a:solidFill>
                  <a:srgbClr val="F87171"/>
                </a:solidFill>
                <a:latin typeface="Calibri"/>
              </a:rPr>
              <a:t>falls in April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D5A96C-6E96-A888-A199-D49D360C4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06231"/>
            <a:ext cx="4937760" cy="2262458"/>
          </a:xfrm>
          <a:prstGeom prst="rect">
            <a:avLst/>
          </a:prstGeom>
        </p:spPr>
      </p:pic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5120640" cy="777240"/>
          </a:xfrm>
          <a:prstGeom prst="roundRect">
            <a:avLst>
              <a:gd name="adj" fmla="val 10000"/>
            </a:avLst>
          </a:prstGeom>
          <a:solidFill>
            <a:srgbClr val="221C3B"/>
          </a:solidFill>
          <a:ln w="9525">
            <a:solidFill>
              <a:srgbClr val="917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47548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F4F6FA"/>
                </a:solidFill>
                <a:latin typeface="Cambria"/>
              </a:rPr>
              <a:t>Agents drive the March peak. Next: how big is each channel over the full period?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SALES MODE BEHAVIOUR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dirty="0" b="1">
                <a:solidFill>
                  <a:srgbClr val="F4F6FA"/>
                </a:solidFill>
                <a:latin typeface="Cambria"/>
                <a:ea typeface="+mn-lt"/>
                <a:cs typeface="+mn-lt"/>
              </a:rPr>
              <a:t>Customer &amp; Revenue Distribution by Sales Mode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572000" cy="2377440"/>
          </a:xfrm>
          <a:prstGeom prst="roundRect">
            <a:avLst>
              <a:gd name="adj" fmla="val 3846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212080" y="1288097"/>
            <a:ext cx="3474720" cy="2742565"/>
          </a:xfrm>
          <a:prstGeom prst="roundRect">
            <a:avLst>
              <a:gd name="adj" fmla="val 3846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394960" y="141732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SzPct val="100000"/>
              <a:buFont typeface="Arial"/>
              <a:buNone/>
            </a:pPr>
            <a:r>
              <a:rPr lang="en-US" sz="1600" dirty="0" b="1">
                <a:solidFill>
                  <a:srgbClr val="B9A6E6"/>
                </a:solidFill>
                <a:ea typeface="+mn-lt"/>
                <a:cs typeface="+mn-lt"/>
              </a:rPr>
              <a:t>Agents hold over half the business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50" dirty="0" b="1">
                <a:solidFill>
                  <a:srgbClr val="F4F6FA"/>
                </a:solidFill>
                <a:ea typeface="+mn-lt"/>
                <a:cs typeface="+mn-lt"/>
              </a:rPr>
              <a:t>55.41%</a:t>
            </a:r>
            <a:r>
              <a:rPr lang="en-US" sz="1450" dirty="0" b="0">
                <a:solidFill>
                  <a:srgbClr val="F4F6FA"/>
                </a:solidFill>
                <a:ea typeface="+mn-lt"/>
                <a:cs typeface="+mn-lt"/>
              </a:rPr>
              <a:t> of customers and </a:t>
            </a:r>
            <a:r>
              <a:rPr lang="en-US" sz="1450" dirty="0" b="1">
                <a:solidFill>
                  <a:srgbClr val="F4F6FA"/>
                </a:solidFill>
                <a:ea typeface="+mn-lt"/>
                <a:cs typeface="+mn-lt"/>
              </a:rPr>
              <a:t>55.67%</a:t>
            </a:r>
            <a:r>
              <a:rPr lang="en-US" sz="1450" dirty="0" b="0">
                <a:solidFill>
                  <a:srgbClr val="F4F6FA"/>
                </a:solidFill>
                <a:ea typeface="+mn-lt"/>
                <a:cs typeface="+mn-lt"/>
              </a:rPr>
              <a:t> of revenue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50" dirty="0" b="0">
                <a:solidFill>
                  <a:srgbClr val="F4F6FA"/>
                </a:solidFill>
                <a:ea typeface="+mn-lt"/>
                <a:cs typeface="+mn-lt"/>
              </a:rPr>
              <a:t>Offline channels bring about </a:t>
            </a:r>
            <a:r>
              <a:rPr lang="en-US" sz="1450" dirty="0" b="1">
                <a:solidFill>
                  <a:srgbClr val="F4F6FA"/>
                </a:solidFill>
                <a:ea typeface="+mn-lt"/>
                <a:cs typeface="+mn-lt"/>
              </a:rPr>
              <a:t>71%</a:t>
            </a:r>
            <a:r>
              <a:rPr lang="en-US" sz="1450" dirty="0" b="0">
                <a:solidFill>
                  <a:srgbClr val="F4F6FA"/>
                </a:solidFill>
                <a:ea typeface="+mn-lt"/>
                <a:cs typeface="+mn-lt"/>
              </a:rPr>
              <a:t>; online about </a:t>
            </a:r>
            <a:r>
              <a:rPr lang="en-US" sz="1450" dirty="0" b="1">
                <a:solidFill>
                  <a:srgbClr val="F4F6FA"/>
                </a:solidFill>
                <a:ea typeface="+mn-lt"/>
                <a:cs typeface="+mn-lt"/>
              </a:rPr>
              <a:t>29%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50" dirty="0" b="0">
                <a:solidFill>
                  <a:srgbClr val="F4F6FA"/>
                </a:solidFill>
                <a:ea typeface="+mn-lt"/>
                <a:cs typeface="+mn-lt"/>
              </a:rPr>
              <a:t>Next: does this hold in every city?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17320"/>
          <a:ext cx="3749040" cy="21122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1097280"/>
                <a:gridCol w="109728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41C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41C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41C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Offline-Agent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55.41%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55.67%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Online-App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16.03%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16.27%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Offline-Direct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15.86%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15.46%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Online-Website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12.70%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12.60%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Offline overall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71.27%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71.13%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6FA"/>
                          </a:solidFill>
                          <a:latin typeface="Calibri"/>
                        </a:rPr>
                        <a:t>Online overall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28.73%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A"/>
                          </a:solidFill>
                          <a:latin typeface="Calibri"/>
                        </a:rPr>
                        <a:t>28.87%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DC3BF-D5CB-6226-A3F4-B3D7C805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B8070A-4588-A0C9-CC4B-9CE8D643CF19}"/>
              </a:ext>
            </a:extLst>
          </p:cNvPr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SALES MODE BEHAVIOUR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2F7272-893C-3A66-E4CE-7E8236EE74F2}"/>
              </a:ext>
            </a:extLst>
          </p:cNvPr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dirty="0" b="1">
                <a:solidFill>
                  <a:srgbClr val="F4F6FA"/>
                </a:solidFill>
                <a:latin typeface="Cambria"/>
                <a:ea typeface="+mn-lt"/>
                <a:cs typeface="+mn-lt"/>
              </a:rPr>
              <a:t>Every City Leans on Agents</a:t>
            </a: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8417D5-D5E8-E50B-73AF-E8ABB01CF6A3}"/>
              </a:ext>
            </a:extLst>
          </p:cNvPr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CB6D36-2659-5E3B-1043-8DD9CEC7E441}"/>
              </a:ext>
            </a:extLst>
          </p:cNvPr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897FE0D-7920-FB98-018A-03EA80608A8B}"/>
              </a:ext>
            </a:extLst>
          </p:cNvPr>
          <p:cNvSpPr/>
          <p:nvPr/>
        </p:nvSpPr>
        <p:spPr>
          <a:xfrm>
            <a:off x="457200" y="1280160"/>
            <a:ext cx="4572000" cy="2377440"/>
          </a:xfrm>
          <a:prstGeom prst="roundRect">
            <a:avLst>
              <a:gd name="adj" fmla="val 3846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47DE0E0-4F49-C2EC-E1F6-808FE424B8F1}"/>
              </a:ext>
            </a:extLst>
          </p:cNvPr>
          <p:cNvSpPr/>
          <p:nvPr/>
        </p:nvSpPr>
        <p:spPr>
          <a:xfrm>
            <a:off x="5212080" y="1288097"/>
            <a:ext cx="3474720" cy="3429000"/>
          </a:xfrm>
          <a:prstGeom prst="roundRect">
            <a:avLst>
              <a:gd name="adj" fmla="val 3846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EB5B7DF-A796-09C9-EA50-F7FFE84E8FF5}"/>
              </a:ext>
            </a:extLst>
          </p:cNvPr>
          <p:cNvSpPr txBox="1"/>
          <p:nvPr/>
        </p:nvSpPr>
        <p:spPr>
          <a:xfrm>
            <a:off x="5394960" y="3429000"/>
            <a:ext cx="30692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SzPct val="100000"/>
              <a:buFont typeface="Arial"/>
              <a:buNone/>
            </a:pPr>
            <a:r>
              <a:rPr lang="en-US" sz="1500" dirty="0" b="1">
                <a:solidFill>
                  <a:srgbClr val="B9A6E6"/>
                </a:solidFill>
                <a:ea typeface="+mn-lt"/>
                <a:cs typeface="+mn-lt"/>
              </a:rPr>
              <a:t>Agents lead in all five cities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350" dirty="0" b="0">
                <a:solidFill>
                  <a:srgbClr val="F4F6FA"/>
                </a:solidFill>
                <a:ea typeface="+mn-lt"/>
                <a:cs typeface="+mn-lt"/>
              </a:rPr>
              <a:t>Agent share ranges from </a:t>
            </a:r>
            <a:r>
              <a:rPr lang="en-US" sz="1350" dirty="0" b="1">
                <a:solidFill>
                  <a:srgbClr val="F4F6FA"/>
                </a:solidFill>
                <a:ea typeface="+mn-lt"/>
                <a:cs typeface="+mn-lt"/>
              </a:rPr>
              <a:t>54.8%</a:t>
            </a:r>
            <a:r>
              <a:rPr lang="en-US" sz="1350" dirty="0" b="0">
                <a:solidFill>
                  <a:srgbClr val="F4F6FA"/>
                </a:solidFill>
                <a:ea typeface="+mn-lt"/>
                <a:cs typeface="+mn-lt"/>
              </a:rPr>
              <a:t> (Mumbai) to </a:t>
            </a:r>
            <a:r>
              <a:rPr lang="en-US" sz="1350" dirty="0" b="1">
                <a:solidFill>
                  <a:srgbClr val="F4F6FA"/>
                </a:solidFill>
                <a:ea typeface="+mn-lt"/>
                <a:cs typeface="+mn-lt"/>
              </a:rPr>
              <a:t>57.5%</a:t>
            </a:r>
            <a:r>
              <a:rPr lang="en-US" sz="1350" dirty="0" b="0">
                <a:solidFill>
                  <a:srgbClr val="F4F6FA"/>
                </a:solidFill>
                <a:ea typeface="+mn-lt"/>
                <a:cs typeface="+mn-lt"/>
              </a:rPr>
              <a:t> (Chennai)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350" dirty="0" b="0">
                <a:solidFill>
                  <a:srgbClr val="F4F6FA"/>
                </a:solidFill>
                <a:ea typeface="+mn-lt"/>
                <a:cs typeface="+mn-lt"/>
              </a:rPr>
              <a:t>Local gaps are small: one strategy, tuned by 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F007EC-6786-09DA-1D15-59C9B276E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3" y="1289050"/>
            <a:ext cx="4454525" cy="23749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16A3F1-13EC-88BB-ED7F-4DC93A441637}"/>
              </a:ext>
            </a:extLst>
          </p:cNvPr>
          <p:cNvSpPr txBox="1"/>
          <p:nvPr/>
        </p:nvSpPr>
        <p:spPr>
          <a:xfrm>
            <a:off x="555625" y="3849687"/>
            <a:ext cx="418306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dirty="0" b="0">
                <a:solidFill>
                  <a:schemeClr val="bg1"/>
                </a:solidFill>
                <a:ea typeface="+mn-lt"/>
                <a:cs typeface="+mn-lt"/>
              </a:rPr>
              <a:t>Channel mix is stable across cities. Next: does timing matter?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94960" y="1463040"/>
          <a:ext cx="3063240" cy="1463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3000"/>
                <a:gridCol w="192024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E141C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E141C"/>
                          </a:solidFill>
                          <a:latin typeface="Calibri"/>
                        </a:rPr>
                        <a:t>Stands out in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6FA"/>
                          </a:solidFill>
                          <a:latin typeface="Calibri"/>
                        </a:rPr>
                        <a:t>Offline-Agent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All five cities; highest in Chennai (57.5%)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6FA"/>
                          </a:solidFill>
                          <a:latin typeface="Calibri"/>
                        </a:rPr>
                        <a:t>Online-App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Mumbai (16.9%)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6FA"/>
                          </a:solidFill>
                          <a:latin typeface="Calibri"/>
                        </a:rPr>
                        <a:t>Offline-Direct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Hyderabad (16.5%)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04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SALES MODE BEHAVIOUR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dirty="0" b="1">
                <a:solidFill>
                  <a:srgbClr val="F4F6FA"/>
                </a:solidFill>
                <a:latin typeface="Cambria"/>
                <a:ea typeface="+mn-lt"/>
                <a:cs typeface="+mn-lt"/>
              </a:rPr>
              <a:t>Customer Activity by Day Type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54530" cy="1005840"/>
          </a:xfrm>
          <a:prstGeom prst="roundRect">
            <a:avLst>
              <a:gd name="adj" fmla="val 909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1588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A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1.4K–1.5K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63547"/>
            <a:ext cx="158877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 day on weekdays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8890" y="1280160"/>
            <a:ext cx="1954530" cy="1005840"/>
          </a:xfrm>
          <a:prstGeom prst="roundRect">
            <a:avLst>
              <a:gd name="adj" fmla="val 909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731770" y="1371600"/>
            <a:ext cx="1588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3.8K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731770" y="1863547"/>
            <a:ext cx="158877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on Saturday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40580" y="1280160"/>
            <a:ext cx="1954530" cy="1005840"/>
          </a:xfrm>
          <a:prstGeom prst="roundRect">
            <a:avLst>
              <a:gd name="adj" fmla="val 909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823460" y="1371600"/>
            <a:ext cx="1588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3.7K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23460" y="1863547"/>
            <a:ext cx="158877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on Sunday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32270" y="1280160"/>
            <a:ext cx="1954530" cy="1005840"/>
          </a:xfrm>
          <a:prstGeom prst="roundRect">
            <a:avLst>
              <a:gd name="adj" fmla="val 9091"/>
            </a:avLst>
          </a:prstGeom>
          <a:solidFill>
            <a:srgbClr val="221C3B"/>
          </a:solidFill>
          <a:ln w="9525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915150" y="1371600"/>
            <a:ext cx="1588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2.5×+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915150" y="1863547"/>
            <a:ext cx="158877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 weekday activity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4754880" cy="2240280"/>
          </a:xfrm>
          <a:prstGeom prst="roundRect">
            <a:avLst>
              <a:gd name="adj" fmla="val 4082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pic>
        <p:nvPicPr>
          <p:cNvPr id="19" name="Image 0" descr="/home/claude/work/orig_unz/ppt/media/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31" y="2542032"/>
            <a:ext cx="4587418" cy="209397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394960" y="2468880"/>
            <a:ext cx="3291840" cy="1065276"/>
          </a:xfrm>
          <a:prstGeom prst="roundRect">
            <a:avLst>
              <a:gd name="adj" fmla="val 8584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577840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A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weekends?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577840" y="2880360"/>
            <a:ext cx="292608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b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free from work: time to discuss with family, meet agents and compare policies.</a:t>
            </a:r>
          </a:p>
        </p:txBody>
      </p:sp>
      <p:sp>
        <p:nvSpPr>
          <p:cNvPr id="23" name="Shape 20"/>
          <p:cNvSpPr/>
          <p:nvPr/>
        </p:nvSpPr>
        <p:spPr>
          <a:xfrm>
            <a:off x="5394960" y="3643884"/>
            <a:ext cx="3291840" cy="1065276"/>
          </a:xfrm>
          <a:prstGeom prst="roundRect">
            <a:avLst>
              <a:gd name="adj" fmla="val 8584"/>
            </a:avLst>
          </a:prstGeom>
          <a:solidFill>
            <a:srgbClr val="221C3B"/>
          </a:solidFill>
          <a:ln w="9525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577840" y="37536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A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77840" y="4055364"/>
            <a:ext cx="292608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b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agent follow-ups, policy discussions and campaigns on Saturday and Sunday.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AGE GROUP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dirty="0" b="1">
                <a:solidFill>
                  <a:srgbClr val="F4F6FA"/>
                </a:solidFill>
                <a:latin typeface="Cambria"/>
                <a:ea typeface="+mn-lt"/>
                <a:cs typeface="+mn-lt"/>
              </a:rPr>
              <a:t>Settlement Profile Across Age Groups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937760" cy="2423160"/>
          </a:xfrm>
          <a:prstGeom prst="roundRect">
            <a:avLst>
              <a:gd name="adj" fmla="val 3774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home/claude/work/orig_unz/ppt/media/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04" y="1353312"/>
            <a:ext cx="4547352" cy="22768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1288097"/>
            <a:ext cx="3108960" cy="936626"/>
          </a:xfrm>
          <a:prstGeom prst="roundRect">
            <a:avLst>
              <a:gd name="adj" fmla="val 80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760720" y="13716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A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39.46% → 71.68%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1943100"/>
            <a:ext cx="2703513" cy="27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percentage, ages 18–24 to 65+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2338070"/>
            <a:ext cx="3108960" cy="1500187"/>
          </a:xfrm>
          <a:prstGeom prst="roundRect">
            <a:avLst>
              <a:gd name="adj" fmla="val 80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60720" y="25603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dirty="0" b="1">
                <a:solidFill>
                  <a:srgbClr val="B9A6E6"/>
                </a:solidFill>
                <a:ea typeface="+mn-lt"/>
                <a:cs typeface="+mn-lt"/>
              </a:rPr>
              <a:t>Older customers settle more</a:t>
            </a:r>
          </a:p>
          <a:p>
            <a:r>
              <a:rPr lang="en-US" sz="1300" dirty="0" b="0">
                <a:solidFill>
                  <a:srgbClr val="F4F6FA"/>
                </a:solidFill>
                <a:ea typeface="+mn-lt"/>
                <a:cs typeface="+mn-lt"/>
              </a:rPr>
              <a:t>Settlement % is the share of insured amount settled</a:t>
            </a:r>
          </a:p>
          <a:p>
            <a:r>
              <a:rPr lang="en-US" sz="1300" dirty="0" b="0">
                <a:solidFill>
                  <a:srgbClr val="F4F6FA"/>
                </a:solidFill>
                <a:ea typeface="+mn-lt"/>
                <a:cs typeface="+mn-lt"/>
              </a:rPr>
              <a:t>Older customers also hold higher cover, so more money is involved per policy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995CFA-111F-F6A9-95B0-FE83045FA0C2}"/>
              </a:ext>
            </a:extLst>
          </p:cNvPr>
          <p:cNvSpPr txBox="1"/>
          <p:nvPr/>
        </p:nvSpPr>
        <p:spPr>
          <a:xfrm>
            <a:off x="452437" y="3968749"/>
            <a:ext cx="5072062" cy="7772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 b="0" sz="1400">
                <a:solidFill>
                  <a:schemeClr val="bg1"/>
                </a:solidFill>
                <a:ea typeface="+mn-lt"/>
                <a:cs typeface="+mn-lt"/>
              </a:rPr>
              <a:t>Age also shapes how customers buy. Next: channel preference by 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AGE GROUP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dirty="0" b="1">
                <a:solidFill>
                  <a:srgbClr val="F4F6FA"/>
                </a:solidFill>
                <a:latin typeface="Cambria"/>
                <a:ea typeface="+mn-lt"/>
                <a:cs typeface="+mn-lt"/>
              </a:rPr>
              <a:t>Sales Mode Preference Across Age Groups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06240" y="1280160"/>
            <a:ext cx="4480560" cy="2468880"/>
          </a:xfrm>
          <a:prstGeom prst="roundRect">
            <a:avLst>
              <a:gd name="adj" fmla="val 3704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home/claude/work/orig_unz/ppt/media/image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473" y="1353312"/>
            <a:ext cx="4296094" cy="23225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37160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b="0">
                <a:solidFill>
                  <a:srgbClr val="F4F6FA"/>
                </a:solidFill>
                <a:latin typeface="Calibri"/>
                <a:ea typeface="+mn-lt"/>
                <a:cs typeface="+mn-lt"/>
              </a:rPr>
              <a:t>Offline-Agent leads every age group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640080" y="1943100"/>
            <a:ext cx="3200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 b="1">
                <a:solidFill>
                  <a:srgbClr val="B9A6E6"/>
                </a:solidFill>
                <a:latin typeface="Calibri"/>
                <a:ea typeface="Calibri"/>
                <a:cs typeface="Calibri"/>
              </a:rPr>
              <a:t>31–40:</a:t>
            </a:r>
            <a:r>
              <a:rPr lang="en-US" sz="1300" dirty="0" b="0">
                <a:solidFill>
                  <a:srgbClr val="B9A6E6"/>
                </a:solidFill>
                <a:latin typeface="Calibri"/>
                <a:ea typeface="Calibri"/>
                <a:cs typeface="Calibri"/>
              </a:rPr>
              <a:t> 9.9K customers, 5.4K through agents</a:t>
            </a:r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0080" y="2560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SzPct val="100000"/>
              <a:buFont typeface="Arial"/>
              <a:buNone/>
            </a:pPr>
            <a:r>
              <a:rPr lang="en-US" sz="1200" dirty="0" b="0">
                <a:solidFill>
                  <a:srgbClr val="F4F6FA"/>
                </a:solidFill>
                <a:ea typeface="+mn-lt"/>
                <a:cs typeface="+mn-lt"/>
              </a:rPr>
              <a:t>Agents lead in every age group, and digital use shows up at every age.</a:t>
            </a:r>
          </a:p>
        </p:txBody>
      </p:sp>
      <p:sp>
        <p:nvSpPr>
          <p:cNvPr id="13" name="Shape 10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221C3B"/>
          </a:solidFill>
          <a:ln w="9525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8175" y="3886200"/>
            <a:ext cx="7812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b="0">
                <a:solidFill>
                  <a:srgbClr val="F4F6FA"/>
                </a:solidFill>
                <a:ea typeface="+mn-lt"/>
                <a:cs typeface="+mn-lt"/>
              </a:rPr>
              <a:t>Even younger customers use digital channels, yet agents dominate important financial decisions.</a:t>
            </a:r>
          </a:p>
          <a:p>
            <a:r>
              <a:rPr lang="en-US" sz="1200" dirty="0" b="0">
                <a:solidFill>
                  <a:srgbClr val="F4F6FA"/>
                </a:solidFill>
                <a:ea typeface="+mn-lt"/>
                <a:cs typeface="+mn-lt"/>
              </a:rPr>
              <a:t>Last step: which policy values do customers choose?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AGE GROUP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dirty="0" b="1">
                <a:solidFill>
                  <a:srgbClr val="F4F6FA"/>
                </a:solidFill>
                <a:latin typeface="Cambria"/>
                <a:ea typeface="+mn-lt"/>
                <a:cs typeface="+mn-lt"/>
              </a:rPr>
              <a:t>Policy Adoption Across Age Groups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408176"/>
            <a:ext cx="777240" cy="310896"/>
          </a:xfrm>
          <a:prstGeom prst="roundRect">
            <a:avLst>
              <a:gd name="adj" fmla="val 29412"/>
            </a:avLst>
          </a:prstGeom>
          <a:solidFill>
            <a:srgbClr val="9172CF"/>
          </a:solidFill>
          <a:ln w="9525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140817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2801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career: affordable protection, lower coverage.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48640" y="2048256"/>
            <a:ext cx="777240" cy="310896"/>
          </a:xfrm>
          <a:prstGeom prst="roundRect">
            <a:avLst>
              <a:gd name="adj" fmla="val 29412"/>
            </a:avLst>
          </a:prstGeom>
          <a:solidFill>
            <a:srgbClr val="9172CF"/>
          </a:solidFill>
          <a:ln w="9525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48640" y="20482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19202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commitments increase the need for protection.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" y="2688336"/>
            <a:ext cx="777240" cy="310896"/>
          </a:xfrm>
          <a:prstGeom prst="roundRect">
            <a:avLst>
              <a:gd name="adj" fmla="val 29412"/>
            </a:avLst>
          </a:prstGeom>
          <a:solidFill>
            <a:srgbClr val="9172CF"/>
          </a:solidFill>
          <a:ln w="9525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26883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41–65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protection as responsibilities continue.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8640" y="3328416"/>
            <a:ext cx="777240" cy="310896"/>
          </a:xfrm>
          <a:prstGeom prst="roundRect">
            <a:avLst>
              <a:gd name="adj" fmla="val 29412"/>
            </a:avLst>
          </a:prstGeom>
          <a:solidFill>
            <a:srgbClr val="9172CF"/>
          </a:solidFill>
          <a:ln w="9525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48640" y="33284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2004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base, but some hold much higher-value policies.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1280160"/>
            <a:ext cx="3337560" cy="2487168"/>
          </a:xfrm>
          <a:prstGeom prst="roundRect">
            <a:avLst>
              <a:gd name="adj" fmla="val 3676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21C3B"/>
          </a:solidFill>
          <a:ln w="9525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85800" y="3931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b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and premium rise with age, from ₹2L / ₹5K at 18–24 to ₹1Cr / ₹1.2L at 65+. Offers should follow life stage.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522976" y="1417320"/>
          <a:ext cx="2926080" cy="2057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85800"/>
                <a:gridCol w="1325880"/>
                <a:gridCol w="91440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E141C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E141C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E141C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6FA"/>
                          </a:solidFill>
                          <a:latin typeface="Calibri"/>
                        </a:rPr>
                        <a:t>18–24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₹2L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₹5K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6FA"/>
                          </a:solidFill>
                          <a:latin typeface="Calibri"/>
                        </a:rPr>
                        <a:t>25–40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₹5L–₹7.5L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₹12K–₹17K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6FA"/>
                          </a:solidFill>
                          <a:latin typeface="Calibri"/>
                        </a:rPr>
                        <a:t>41–65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₹7.5L (stronger adoption)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₹17K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4F6FA"/>
                          </a:solidFill>
                          <a:latin typeface="Calibri"/>
                        </a:rPr>
                        <a:t>65+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₹1Cr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4F6FA"/>
                          </a:solidFill>
                          <a:latin typeface="Calibri"/>
                        </a:rPr>
                        <a:t>₹1.2L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KEY BUSINESS INSIGHTS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dirty="0" b="1">
                <a:solidFill>
                  <a:srgbClr val="F4F6FA"/>
                </a:solidFill>
                <a:latin typeface="Cambria"/>
                <a:ea typeface="+mn-lt"/>
                <a:cs typeface="+mn-lt"/>
              </a:rPr>
              <a:t>What the Data Tells Us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53035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141C"/>
                          </a:solidFill>
                          <a:latin typeface="Calibri"/>
                        </a:rPr>
                        <a:t>Insight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141C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9172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6FA"/>
                          </a:solidFill>
                          <a:latin typeface="Calibri"/>
                        </a:rPr>
                        <a:t>Growth is volume-led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A"/>
                          </a:solidFill>
                          <a:latin typeface="Calibri"/>
                        </a:rPr>
                        <a:t>₹36K–₹37K per customer stays flat while customers jump ~82% in March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6FA"/>
                          </a:solidFill>
                          <a:latin typeface="Calibri"/>
                        </a:rPr>
                        <a:t>March is the peak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DE80"/>
                          </a:solidFill>
                          <a:latin typeface="Calibri"/>
                        </a:rPr>
                        <a:t>+82.27%</a:t>
                      </a:r>
                      <a:r>
                        <a:rPr sz="1300" b="0">
                          <a:solidFill>
                            <a:srgbClr val="F4F6FA"/>
                          </a:solidFill>
                          <a:latin typeface="Calibri"/>
                        </a:rPr>
                        <a:t> policy growth in March, then </a:t>
                      </a: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</a:rPr>
                        <a:t>−41.41%</a:t>
                      </a:r>
                      <a:r>
                        <a:rPr sz="1300" b="0">
                          <a:solidFill>
                            <a:srgbClr val="F4F6FA"/>
                          </a:solidFill>
                          <a:latin typeface="Calibri"/>
                        </a:rPr>
                        <a:t> in April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6FA"/>
                          </a:solidFill>
                          <a:latin typeface="Calibri"/>
                        </a:rPr>
                        <a:t>Agents remain vital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A"/>
                          </a:solidFill>
                          <a:latin typeface="Calibri"/>
                        </a:rPr>
                        <a:t>55.41% of customers and 55.67% of revenue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6FA"/>
                          </a:solidFill>
                          <a:latin typeface="Calibri"/>
                        </a:rPr>
                        <a:t>Digital is meaningful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A"/>
                          </a:solidFill>
                          <a:latin typeface="Calibri"/>
                        </a:rPr>
                        <a:t>About 29% of customers and revenue come online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6FA"/>
                          </a:solidFill>
                          <a:latin typeface="Calibri"/>
                        </a:rPr>
                        <a:t>Life stage shapes value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A"/>
                          </a:solidFill>
                          <a:latin typeface="Calibri"/>
                        </a:rPr>
                        <a:t>31–50 is ~62% of customers; 65+ hold ₹1Cr cover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6FA"/>
                          </a:solidFill>
                          <a:latin typeface="Calibri"/>
                        </a:rPr>
                        <a:t>Weekends are busiest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A"/>
                          </a:solidFill>
                          <a:latin typeface="Calibri"/>
                        </a:rPr>
                        <a:t>Saturday and Sunday run 2.5×+ weekday activity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2A3446"/>
                      </a:solidFill>
                    </a:lnB>
                    <a:solidFill>
                      <a:srgbClr val="1820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BUSINESS ACTIONS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Business Actions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389888"/>
            <a:ext cx="310896" cy="310896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436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2801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Agent Engagement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28016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250" dirty="0" b="0">
                <a:solidFill>
                  <a:schemeClr val="bg1"/>
                </a:solidFill>
                <a:ea typeface="+mn-lt"/>
                <a:cs typeface="+mn-lt"/>
              </a:rPr>
              <a:t>Equip agents with customer insights; they bring 55.67% of revenue.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" y="1860804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4360" y="1970532"/>
            <a:ext cx="310896" cy="310896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94360" y="1970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18608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Digital Journey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186080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250" dirty="0" b="0">
                <a:solidFill>
                  <a:srgbClr val="A9B4C6"/>
                </a:solidFill>
                <a:ea typeface="+mn-lt"/>
                <a:cs typeface="+mn-lt"/>
              </a:rPr>
              <a:t>Simplify online discovery and purchase; ~29% already buy online.</a:t>
            </a:r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2551176"/>
            <a:ext cx="310896" cy="310896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94360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441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 by Life Stage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244144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250" dirty="0" b="0">
                <a:solidFill>
                  <a:srgbClr val="A9B4C6"/>
                </a:solidFill>
                <a:ea typeface="+mn-lt"/>
                <a:cs typeface="+mn-lt"/>
              </a:rPr>
              <a:t>Match messaging and offers to life stage, from ₹2L to ₹1Cr cover.</a:t>
            </a:r>
          </a:p>
        </p:txBody>
      </p:sp>
      <p:sp>
        <p:nvSpPr>
          <p:cNvPr id="21" name="Shape 19"/>
          <p:cNvSpPr/>
          <p:nvPr/>
        </p:nvSpPr>
        <p:spPr>
          <a:xfrm>
            <a:off x="457200" y="3022092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94360" y="3131820"/>
            <a:ext cx="310896" cy="310896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94360" y="31318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0220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Weekend Engagement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302209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250" dirty="0" b="0">
                <a:solidFill>
                  <a:srgbClr val="A9B4C6"/>
                </a:solidFill>
                <a:ea typeface="+mn-lt"/>
                <a:cs typeface="+mn-lt"/>
              </a:rPr>
              <a:t>Concentrate agent follow-ups and campaigns on weekends.</a:t>
            </a:r>
          </a:p>
        </p:txBody>
      </p:sp>
      <p:sp>
        <p:nvSpPr>
          <p:cNvPr id="26" name="Shape 24"/>
          <p:cNvSpPr/>
          <p:nvPr/>
        </p:nvSpPr>
        <p:spPr>
          <a:xfrm>
            <a:off x="457200" y="3602736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4360" y="3712464"/>
            <a:ext cx="310896" cy="310896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9436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36027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March Demand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360273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250" dirty="0" b="0">
                <a:solidFill>
                  <a:srgbClr val="A9B4C6"/>
                </a:solidFill>
                <a:ea typeface="+mn-lt"/>
                <a:cs typeface="+mn-lt"/>
              </a:rPr>
              <a:t>Add sales and support capacity before March, when policy growth hits 82%.</a:t>
            </a:r>
          </a:p>
        </p:txBody>
      </p:sp>
      <p:sp>
        <p:nvSpPr>
          <p:cNvPr id="31" name="Shape 29"/>
          <p:cNvSpPr/>
          <p:nvPr/>
        </p:nvSpPr>
        <p:spPr>
          <a:xfrm>
            <a:off x="457200" y="418338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4293108"/>
            <a:ext cx="310896" cy="310896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594360" y="42931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1833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Higher-Value Policies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566160" y="41833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250" dirty="0" b="0">
                <a:solidFill>
                  <a:srgbClr val="A9B4C6"/>
                </a:solidFill>
                <a:ea typeface="+mn-lt"/>
                <a:cs typeface="+mn-lt"/>
              </a:rPr>
              <a:t>Track high-coverage policies, where settlement exposure is greatest.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1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decisions are shaped by who the customer is, where they live, how they prefer to buy, and their stage of life.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these patterns helps Shield serve customers better while managing growth and risk.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1353312" cy="384048"/>
          </a:xfrm>
          <a:prstGeom prst="roundRect">
            <a:avLst>
              <a:gd name="adj" fmla="val 2381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4288536"/>
            <a:ext cx="128016" cy="128016"/>
          </a:xfrm>
          <a:prstGeom prst="ellipse">
            <a:avLst/>
          </a:prstGeom>
          <a:solidFill>
            <a:srgbClr val="9172CF"/>
          </a:solidFill>
          <a:ln w="12700">
            <a:solidFill>
              <a:srgbClr val="9172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0704" y="4160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94560" y="4160520"/>
            <a:ext cx="1353312" cy="384048"/>
          </a:xfrm>
          <a:prstGeom prst="roundRect">
            <a:avLst>
              <a:gd name="adj" fmla="val 2381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2576" y="4288536"/>
            <a:ext cx="128016" cy="128016"/>
          </a:xfrm>
          <a:prstGeom prst="ellipse">
            <a:avLst/>
          </a:prstGeom>
          <a:solidFill>
            <a:srgbClr val="3DB8FF"/>
          </a:solidFill>
          <a:ln w="12700">
            <a:solidFill>
              <a:srgbClr val="3DB8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23744" y="4160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4160520"/>
            <a:ext cx="1353312" cy="384048"/>
          </a:xfrm>
          <a:prstGeom prst="roundRect">
            <a:avLst>
              <a:gd name="adj" fmla="val 2381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85616" y="4288536"/>
            <a:ext cx="128016" cy="128016"/>
          </a:xfrm>
          <a:prstGeom prst="ellipse">
            <a:avLst/>
          </a:prstGeom>
          <a:solidFill>
            <a:srgbClr val="B9A6E6"/>
          </a:solidFill>
          <a:ln w="12700">
            <a:solidFill>
              <a:srgbClr val="B9A6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86784" y="4160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buy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4160520"/>
            <a:ext cx="1353312" cy="384048"/>
          </a:xfrm>
          <a:prstGeom prst="roundRect">
            <a:avLst>
              <a:gd name="adj" fmla="val 23810"/>
            </a:avLst>
          </a:prstGeom>
          <a:solidFill>
            <a:srgbClr val="18202B"/>
          </a:solidFill>
          <a:ln w="9525">
            <a:solidFill>
              <a:srgbClr val="2A34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8656" y="4288536"/>
            <a:ext cx="128016" cy="128016"/>
          </a:xfrm>
          <a:prstGeom prst="ellipse">
            <a:avLst/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9824" y="4160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 Insurance – Business Performance &amp; Customer Analytics</dc:title>
  <dc:subject>PptxGenJS Presentation</dc:subject>
  <dc:creator>PptxGenJS</dc:creator>
  <cp:lastModifiedBy>PptxGenJS</cp:lastModifiedBy>
  <cp:revision>164</cp:revision>
  <dcterms:created xsi:type="dcterms:W3CDTF">2026-09-29T01:06:45Z</dcterms:created>
  <dcterms:modified xsi:type="dcterms:W3CDTF">2026-09-30T06:22:34Z</dcterms:modified>
</cp:coreProperties>
</file>